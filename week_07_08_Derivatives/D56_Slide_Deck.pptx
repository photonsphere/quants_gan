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f4b6cd45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f4b6cd45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f4b6cd45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f4b6cd45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f4b6cd45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f4b6cd45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f4b6cd45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f4b6cd4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f4b6cd45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f4b6cd45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9f4b6cd45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9f4b6cd45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9f4b6cd45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9f4b6cd45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f4b6cd45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f4b6cd45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364600"/>
            <a:ext cx="8222100" cy="15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/>
              <a:t>Portfolio Management and Optimization: Advanced Option Pricing (Days 50–54)</a:t>
            </a:r>
            <a:endParaRPr sz="32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00"/>
              <a:t>Transitioning from Classical BSM to Modern Stochastic Models</a:t>
            </a:r>
            <a:endParaRPr sz="1500"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083456"/>
            <a:ext cx="8222100" cy="19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Focused on advanced stochastic and numerical option pricing models.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Moved beyond constant-volatility Black–Scholes–Merton (BSM) assumptions.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Applied Monte Carlo, Finite Difference, and Jump Diffusion frameworks.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Abstract timeline or schematic of model evolution (BSM → Heston → Jump Diffusion).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BSM limitations in reflecting real market dynamics.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 stochastic-volatility (SV) and jump-diffusion (JD) models.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models numerically using convergence and stability tests.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all approaches into a unified analytical framework.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4-pillar infographic (Accuracy, Volatility, Tail Risk, Integration).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50 – Limitations of BSM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BSM assumes constant volatility and lognormal returns.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Failures: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Volatility smile/skew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Fat-tailed return distributions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Volatility clustering &amp; leverage effect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jump or shock capture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Motivation: need for stochastic volatility representation.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Chart comparing implied volatility smile vs. BSM flat line.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51 – Monte Carlo Heston Model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Volatility modeled as a mean-reverting random process.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Parameters: κ (mean reversion), θ (long-term variance), ξ (vol of vol), ρ (correlation).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Monte Carlo simulations validated against analytical BSM values.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Convergence achieved at finer grid resolutions (M = 800).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Diagram of Heston process or SDE equations with arrows.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52 – Crank–Nicolson Finite Difference Implementation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Crank–Nicolson with Rannacher smoothing to solve BSM PDE.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Tested on M&amp;M ticker for call / put options.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Observed numerical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instability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errors increased with refinement.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Diagnosis: boundary conditions, domain truncation, and Δt / ΔS ratio issues.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Flowchart of FD grid with instability trend graph.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53 – Merton Jump Diffusion (MJD) Framework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Adds Poisson jump process to standard diffusion.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Captures fat tails and abrupt price moves.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Parameters calibrated via MSE minimization.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MJD prices &gt; BSM prices → jump risk premium.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+2.16 difference for 3700 call.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Graphic showing occasional price “jumps” on time-series path.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 54 – Integrated Stochastic Models Framework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Comparative analysis of 5 methods: BSM, FD, MC GBM, MC Heston, MC Jump Diffusion.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Findings: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FD (when stable): ≈ BSM (&lt; 0.3 % deviation).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 GBM: Slightly lower due to path variance.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 Heston: Lower due to mean-reverting volatility.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MC Jump: Higher call prices (+14.44 for 3600 call).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Comparison bar chart across models.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Insights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BSM/FD: serve as calibration benchmarks.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Heston: effective for volatility stress testing.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Jump Diffusion: models event-driven tail risks.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Unified approach → more resilient portfolio valuation.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Table linking model type → market condition → best use.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 and Roadmap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Points: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 model offers unique perspective on pricing and risk.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Stochastic and jump models capture real-market behaviors better.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Refine FD solver for stability.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Extend calibration to multi-asset options.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Automate model selection via error minimization.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 Suggestion: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Roadmap timeline for next-phase development.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