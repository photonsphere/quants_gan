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867fd3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867fd3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867fd3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1867fd3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867fd30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867fd3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867fd30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867fd3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1867fd30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1867fd30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867fd30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867fd30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867fd30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867fd30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867fd30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1867fd30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867fd30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867fd30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725450"/>
            <a:ext cx="8222100" cy="16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Quantifying, Modeling, and Validating Downside Financial Risk using VaR, CVaR, and EVT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Quantify Downside Risk?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volatility (σ) fails to capture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extreme losses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(tail risk).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Accurate tail-risk modeling is crucial for: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 protection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Regulatory compliance (Basel III FRTB)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Crisis resilience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Quantify and validate downside financial risk using: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at Risk (VaR)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Conditional VaR (CVaR)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Extreme Value Theory (EVT)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Volatility to Coherent Risk Measures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Max loss at confidence level (e.g., 99%).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CVaR (Expected Shortfall):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Avg. loss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beyond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 → tail-sensitive.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 III FRTB: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Replaced 99% VaR with 97.5% CVaR → ensures coherence (sub-additivity).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Statistical framework for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rare, extreme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losses (black swans).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Timeline showing evolution: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Deviation → VaR → CVaR → EVT (Basel III)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NIFTY 50 and Bitcoin VaR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used: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VaR (empirical quantiles)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VaR (Gaussian)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Student-t VaR (fat tails)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BTC’s tail risk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4–5× higher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NIFTY.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VaR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underestimates BTC losses.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Student-t VaR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(df ≈ 3) better fits BTC’s heavy tails.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Losses Beyond VaR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CVaR = Expected loss given VaR is breached.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 Severity Ratio (CVaR / VaR) quantifies tail fatness.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NIFTY and BTC show non-Gaussian tails: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NIFTY ≈ 1.45×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 ≈ 1.60×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BTC’s losses escalate more sharply once past VaR threshold.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Side-by-side bar graph of Tail Severity Ratios (CVaR/VaR).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Rare and Catastrophic Losses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Peaks Over Threshold (POT)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approach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Generalized Pareto Distribution (GPD)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extreme losses &gt; 95th percentile.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NIFTY: EVT-VaR ≈ Historical VaR → moderate tail risk.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BTC: EVT-VaR (99% ≈ 9.20%) &gt; Historical (8.59%) &gt; Normal (7.87%).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EVT delivers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realistic estimates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heavy-tailed assets.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GPD fit plot showing fat tails and EVT extrapolation region.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Historical VaR with Kupiec Test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Kupiec Proportion of Failures (POF)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 checks calibration.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Data: 2005–2025 (≈4,325 obs) for NIFTY &amp; SPX.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Long-term: Passed POF test (expected breach rate ≈ observed).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good calibration in normal markets.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Table summarizing Expected vs Observed breaches for NIFTY &amp; SPX (e.g., 5% expected → 5.1% observed).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Under Turbulence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Tested during: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2008 GFC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 COVID Crash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 VaR breached 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≈30–31% of days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(vs 5% expected).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fails catastrophically in non-stationary, crisis regimes.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Line chart of daily losses vs 95% VaR limit (highlight breaches during GFC/COVID).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Measure Comparison — Strengths &amp; Weaknesses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Observation:</a:t>
            </a:r>
            <a:b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BTC exhibits extreme fat tails — traditional VaR inadequate; </a:t>
            </a:r>
            <a: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CVaR + EVT combination</a:t>
            </a: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most effective.</a:t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Radar or heatmap comparing methods across criteria (Accuracy, Tail Sensitivity, Robustness).</a:t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75" y="2034625"/>
            <a:ext cx="72199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&amp; Practical Takeaways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Insights: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underestimates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extreme risk—fails during crises.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CVaR (Expected Shortfall)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aligns with modern regulatory standards (Basel III).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EVT provides statistical rigor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modeling black swan events.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modeling (CVaR + EVT)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offers comprehensive tail-risk insight.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stress testing and dynamic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essential for risk resilience.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Infographic summarizing framework: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 → CVaR → EVT → Integrated Risk Model.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